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2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(BDT Lakhs)</c:v>
                </c:pt>
              </c:strCache>
            </c:strRef>
          </c:tx>
          <c:spPr>
            <a:solidFill>
              <a:srgbClr val="FF6B35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F0EE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Sheet1!$A$2:$A$10</c:f>
              <c:multiLvlStrCache>
                <c:ptCount val="9"/>
                <c:lvl>
                  <c:pt idx="0">
                    <c:v>Q1 2026</c:v>
                  </c:pt>
                  <c:pt idx="1">
                    <c:v>Q2 2026</c:v>
                  </c:pt>
                  <c:pt idx="2">
                    <c:v>Q3 2026</c:v>
                  </c:pt>
                  <c:pt idx="3">
                    <c:v>Q4 2026</c:v>
                  </c:pt>
                  <c:pt idx="4">
                    <c:v>Q1 2027</c:v>
                  </c:pt>
                  <c:pt idx="5">
                    <c:v>Q2 2027</c:v>
                  </c:pt>
                  <c:pt idx="6">
                    <c:v>Q3 2027</c:v>
                  </c:pt>
                  <c:pt idx="7">
                    <c:v>Q4 2027</c:v>
                  </c:pt>
                  <c:pt idx="8">
                    <c:v>2028 (Proj)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1.2</c:v>
                </c:pt>
                <c:pt idx="1">
                  <c:v>3.5</c:v>
                </c:pt>
                <c:pt idx="2">
                  <c:v>8</c:v>
                </c:pt>
                <c:pt idx="3">
                  <c:v>16</c:v>
                </c:pt>
                <c:pt idx="4">
                  <c:v>28</c:v>
                </c:pt>
                <c:pt idx="5">
                  <c:v>45</c:v>
                </c:pt>
                <c:pt idx="6">
                  <c:v>68</c:v>
                </c:pt>
                <c:pt idx="7">
                  <c:v>95</c:v>
                </c:pt>
                <c:pt idx="8">
                  <c:v>320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F0EE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B8AA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0"/>
        <c:axPos val="l"/>
        <c:majorGridlines>
          <c:spPr>
            <a:ln w="6350" cap="flat">
              <a:solidFill>
                <a:srgbClr val="2A2A3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B8AA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16161E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Use of Funds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3B82F6"/>
              </a:solidFill>
              <a:effectLst/>
            </c:spPr>
          </c:dPt>
          <c:dPt>
            <c:idx val="1"/>
            <c:bubble3D val="0"/>
            <c:spPr>
              <a:solidFill>
                <a:srgbClr val="FF6B35"/>
              </a:solidFill>
              <a:effectLst/>
            </c:spPr>
          </c:dPt>
          <c:dPt>
            <c:idx val="2"/>
            <c:bubble3D val="0"/>
            <c:spPr>
              <a:solidFill>
                <a:srgbClr val="10B981"/>
              </a:solidFill>
              <a:effectLst/>
            </c:spPr>
          </c:dPt>
          <c:dPt>
            <c:idx val="3"/>
            <c:bubble3D val="0"/>
            <c:spPr>
              <a:solidFill>
                <a:srgbClr val="A855F7"/>
              </a:solidFill>
              <a:effectLst/>
            </c:spPr>
          </c:dPt>
          <c:dPt>
            <c:idx val="4"/>
            <c:bubble3D val="0"/>
            <c:spPr>
              <a:solidFill>
                <a:srgbClr val="F59E0B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4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Sheet1!$A$2:$A$6</c:f>
              <c:strCache>
                <c:ptCount val="5"/>
                <c:pt idx="0">
                  <c:v>Tech &amp; Infrastructure</c:v>
                </c:pt>
                <c:pt idx="1">
                  <c:v>API Credits Pool</c:v>
                </c:pt>
                <c:pt idx="2">
                  <c:v>Marketing &amp; Growth</c:v>
                </c:pt>
                <c:pt idx="3">
                  <c:v>Legal &amp; Compliance</c:v>
                </c:pt>
                <c:pt idx="4">
                  <c:v>Working Capital</c:v>
                </c:pt>
              </c:strCache>
            </c:strRef>
          </c:cat>
          <c:val>
            <c:numRef>
              <c:f>Sheet1!$B$2:$B$6</c:f>
              <c:numCache>
                <c:ptCount val="5"/>
                <c:pt idx="0">
                  <c:v>35</c:v>
                </c:pt>
                <c:pt idx="1">
                  <c:v>25</c:v>
                </c:pt>
                <c:pt idx="2">
                  <c:v>20</c:v>
                </c:pt>
                <c:pt idx="3">
                  <c:v>10</c:v>
                </c:pt>
                <c:pt idx="4">
                  <c:v>10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solidFill>
                <a:srgbClr val="8B8AA0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16161E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606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3" name="Shape 1"/>
          <p:cNvSpPr/>
          <p:nvPr/>
        </p:nvSpPr>
        <p:spPr>
          <a:xfrm>
            <a:off x="5029200" y="274320"/>
            <a:ext cx="45720" cy="45720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532120" y="274320"/>
            <a:ext cx="45720" cy="45720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035040" y="274320"/>
            <a:ext cx="45720" cy="45720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537960" y="274320"/>
            <a:ext cx="45720" cy="45720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040880" y="274320"/>
            <a:ext cx="45720" cy="45720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543800" y="274320"/>
            <a:ext cx="45720" cy="45720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046720" y="274320"/>
            <a:ext cx="45720" cy="45720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549640" y="274320"/>
            <a:ext cx="45720" cy="45720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029200" y="1051560"/>
            <a:ext cx="45720" cy="45720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532120" y="1051560"/>
            <a:ext cx="45720" cy="45720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035040" y="1051560"/>
            <a:ext cx="45720" cy="45720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537960" y="1051560"/>
            <a:ext cx="45720" cy="45720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040880" y="1051560"/>
            <a:ext cx="45720" cy="45720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543800" y="1051560"/>
            <a:ext cx="45720" cy="45720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046720" y="1051560"/>
            <a:ext cx="45720" cy="45720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549640" y="1051560"/>
            <a:ext cx="45720" cy="45720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029200" y="1828800"/>
            <a:ext cx="45720" cy="45720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532120" y="1828800"/>
            <a:ext cx="45720" cy="45720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035040" y="1828800"/>
            <a:ext cx="45720" cy="45720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537960" y="1828800"/>
            <a:ext cx="45720" cy="45720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040880" y="1828800"/>
            <a:ext cx="45720" cy="45720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543800" y="1828800"/>
            <a:ext cx="45720" cy="45720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046720" y="1828800"/>
            <a:ext cx="45720" cy="45720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549640" y="1828800"/>
            <a:ext cx="45720" cy="45720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029200" y="2606040"/>
            <a:ext cx="45720" cy="45720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532120" y="2606040"/>
            <a:ext cx="45720" cy="45720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035040" y="2606040"/>
            <a:ext cx="45720" cy="45720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537960" y="2606040"/>
            <a:ext cx="45720" cy="45720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040880" y="2606040"/>
            <a:ext cx="45720" cy="45720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543800" y="2606040"/>
            <a:ext cx="45720" cy="45720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046720" y="2606040"/>
            <a:ext cx="45720" cy="45720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549640" y="2606040"/>
            <a:ext cx="45720" cy="45720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029200" y="3383280"/>
            <a:ext cx="45720" cy="45720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532120" y="3383280"/>
            <a:ext cx="45720" cy="45720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035040" y="3383280"/>
            <a:ext cx="45720" cy="45720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537960" y="3383280"/>
            <a:ext cx="45720" cy="45720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7040880" y="3383280"/>
            <a:ext cx="45720" cy="45720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7543800" y="3383280"/>
            <a:ext cx="45720" cy="45720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8046720" y="3383280"/>
            <a:ext cx="45720" cy="45720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8549640" y="3383280"/>
            <a:ext cx="45720" cy="45720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029200" y="4160520"/>
            <a:ext cx="45720" cy="45720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5532120" y="4160520"/>
            <a:ext cx="45720" cy="45720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035040" y="4160520"/>
            <a:ext cx="45720" cy="45720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6537960" y="4160520"/>
            <a:ext cx="45720" cy="45720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040880" y="4160520"/>
            <a:ext cx="45720" cy="45720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7543800" y="4160520"/>
            <a:ext cx="45720" cy="45720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8046720" y="4160520"/>
            <a:ext cx="45720" cy="45720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8549640" y="4160520"/>
            <a:ext cx="45720" cy="45720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57200" y="54864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Ready</a:t>
            </a:r>
            <a:pPr indent="0" marL="0">
              <a:buNone/>
            </a:pPr>
            <a:r>
              <a:rPr lang="en-US" sz="4000" b="1" dirty="0">
                <a:solidFill>
                  <a:srgbClr val="FF6B3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PI</a:t>
            </a:r>
            <a:endParaRPr lang="en-US" sz="4000" dirty="0"/>
          </a:p>
        </p:txBody>
      </p:sp>
      <p:sp>
        <p:nvSpPr>
          <p:cNvPr id="52" name="Text 50"/>
          <p:cNvSpPr/>
          <p:nvPr/>
        </p:nvSpPr>
        <p:spPr>
          <a:xfrm>
            <a:off x="457200" y="12801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200" kern="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Bangladesh's First AI API Marketplace</a:t>
            </a:r>
            <a:endParaRPr lang="en-US" sz="1300" dirty="0"/>
          </a:p>
        </p:txBody>
      </p:sp>
      <p:sp>
        <p:nvSpPr>
          <p:cNvPr id="53" name="Text 51"/>
          <p:cNvSpPr/>
          <p:nvPr/>
        </p:nvSpPr>
        <p:spPr>
          <a:xfrm>
            <a:off x="457200" y="1828800"/>
            <a:ext cx="5943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Unifying 50+ AI Models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Behind One API</a:t>
            </a:r>
            <a:endParaRPr lang="en-US" sz="3800" dirty="0"/>
          </a:p>
        </p:txBody>
      </p:sp>
      <p:sp>
        <p:nvSpPr>
          <p:cNvPr id="54" name="Text 52"/>
          <p:cNvSpPr/>
          <p:nvPr/>
        </p:nvSpPr>
        <p:spPr>
          <a:xfrm>
            <a:off x="457200" y="333756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· Anthropic · Google · xAI · DeepSeek · Meta — One endpoint. Local payments. BDT pricing.</a:t>
            </a:r>
            <a:endParaRPr lang="en-US" sz="1200" dirty="0"/>
          </a:p>
        </p:txBody>
      </p:sp>
      <p:sp>
        <p:nvSpPr>
          <p:cNvPr id="55" name="Shape 53"/>
          <p:cNvSpPr/>
          <p:nvPr/>
        </p:nvSpPr>
        <p:spPr>
          <a:xfrm>
            <a:off x="457200" y="3931920"/>
            <a:ext cx="1554480" cy="411480"/>
          </a:xfrm>
          <a:prstGeom prst="rect">
            <a:avLst/>
          </a:prstGeom>
          <a:solidFill>
            <a:srgbClr val="16161E"/>
          </a:solidFill>
          <a:ln w="12700">
            <a:solidFill>
              <a:srgbClr val="FF6B3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56" name="Text 54"/>
          <p:cNvSpPr/>
          <p:nvPr/>
        </p:nvSpPr>
        <p:spPr>
          <a:xfrm>
            <a:off x="457200" y="393192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50+ Models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2194560" y="3931920"/>
            <a:ext cx="1554480" cy="411480"/>
          </a:xfrm>
          <a:prstGeom prst="rect">
            <a:avLst/>
          </a:prstGeom>
          <a:solidFill>
            <a:srgbClr val="16161E"/>
          </a:solidFill>
          <a:ln w="12700">
            <a:solidFill>
              <a:srgbClr val="FF6B3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58" name="Text 56"/>
          <p:cNvSpPr/>
          <p:nvPr/>
        </p:nvSpPr>
        <p:spPr>
          <a:xfrm>
            <a:off x="2194560" y="393192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BDT Payments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3931920" y="3931920"/>
            <a:ext cx="1554480" cy="411480"/>
          </a:xfrm>
          <a:prstGeom prst="rect">
            <a:avLst/>
          </a:prstGeom>
          <a:solidFill>
            <a:srgbClr val="16161E"/>
          </a:solidFill>
          <a:ln w="12700">
            <a:solidFill>
              <a:srgbClr val="FF6B3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60" name="Text 58"/>
          <p:cNvSpPr/>
          <p:nvPr/>
        </p:nvSpPr>
        <p:spPr>
          <a:xfrm>
            <a:off x="3931920" y="393192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in BD</a:t>
            </a:r>
            <a:endParaRPr lang="en-US" sz="1000" dirty="0"/>
          </a:p>
        </p:txBody>
      </p:sp>
      <p:sp>
        <p:nvSpPr>
          <p:cNvPr id="61" name="Text 59"/>
          <p:cNvSpPr/>
          <p:nvPr/>
        </p:nvSpPr>
        <p:spPr>
          <a:xfrm>
            <a:off x="457200" y="47548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— Seed Round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606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A855F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Bangladeshi Developers Are</a:t>
            </a:r>
            <a:endParaRPr lang="en-US" sz="3200" dirty="0"/>
          </a:p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Locked Out of AI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365760" y="1920240"/>
            <a:ext cx="3931920" cy="1097280"/>
          </a:xfrm>
          <a:prstGeom prst="rect">
            <a:avLst/>
          </a:prstGeom>
          <a:solidFill>
            <a:srgbClr val="16161E"/>
          </a:solidFill>
          <a:ln w="12700">
            <a:solidFill>
              <a:srgbClr val="2A2A3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02920" y="20116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💳  No Local Payment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02920" y="237744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USD cards. Can't pay Anthropic, OpenAI, Google directly.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663440" y="1920240"/>
            <a:ext cx="3931920" cy="1097280"/>
          </a:xfrm>
          <a:prstGeom prst="rect">
            <a:avLst/>
          </a:prstGeom>
          <a:solidFill>
            <a:srgbClr val="16161E"/>
          </a:solidFill>
          <a:ln w="12700">
            <a:solidFill>
              <a:srgbClr val="2A2A3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800600" y="20116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🔑  Multiple API Keys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800600" y="237744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provider needs separate account, billing, and integration.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65760" y="3246120"/>
            <a:ext cx="3931920" cy="1097280"/>
          </a:xfrm>
          <a:prstGeom prst="rect">
            <a:avLst/>
          </a:prstGeom>
          <a:solidFill>
            <a:srgbClr val="16161E"/>
          </a:solidFill>
          <a:ln w="12700">
            <a:solidFill>
              <a:srgbClr val="2A2A3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02920" y="33375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💸  USD Pricing Only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02920" y="370332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Prices in USD make budgeting unpredictable in BDT.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663440" y="3246120"/>
            <a:ext cx="3931920" cy="1097280"/>
          </a:xfrm>
          <a:prstGeom prst="rect">
            <a:avLst/>
          </a:prstGeom>
          <a:solidFill>
            <a:srgbClr val="16161E"/>
          </a:solidFill>
          <a:ln w="12700">
            <a:solidFill>
              <a:srgbClr val="2A2A3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800600" y="33375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⚡  No Unified Access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800600" y="370332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Switching models means rewriting code and managing 10+ accounts.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606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ReadyPI — One API,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Every Model, Local Payments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65760" y="1920240"/>
            <a:ext cx="1737360" cy="1005840"/>
          </a:xfrm>
          <a:prstGeom prst="rect">
            <a:avLst/>
          </a:prstGeom>
          <a:solidFill>
            <a:srgbClr val="3B82F6">
              <a:alpha val="20000"/>
            </a:srgbClr>
          </a:solidFill>
          <a:ln w="25400">
            <a:solidFill>
              <a:srgbClr val="3B82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65760" y="1920240"/>
            <a:ext cx="1737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Developer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(BD)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103120" y="2423160"/>
            <a:ext cx="1188720" cy="0"/>
          </a:xfrm>
          <a:prstGeom prst="line">
            <a:avLst/>
          </a:prstGeom>
          <a:noFill/>
          <a:ln w="25400">
            <a:solidFill>
              <a:srgbClr val="FF6B3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651760" y="22860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6B35"/>
                </a:solidFill>
              </a:rPr>
              <a:t>→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2926080" y="1920240"/>
            <a:ext cx="1737360" cy="1005840"/>
          </a:xfrm>
          <a:prstGeom prst="rect">
            <a:avLst/>
          </a:prstGeom>
          <a:solidFill>
            <a:srgbClr val="FF6B35">
              <a:alpha val="20000"/>
            </a:srgbClr>
          </a:solidFill>
          <a:ln w="25400">
            <a:solidFill>
              <a:srgbClr val="FF6B3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926080" y="1920240"/>
            <a:ext cx="1737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ReadyPI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API Gateway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663440" y="2423160"/>
            <a:ext cx="1188720" cy="0"/>
          </a:xfrm>
          <a:prstGeom prst="line">
            <a:avLst/>
          </a:prstGeom>
          <a:noFill/>
          <a:ln w="25400">
            <a:solidFill>
              <a:srgbClr val="FF6B3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212080" y="22860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6B35"/>
                </a:solidFill>
              </a:rPr>
              <a:t>→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486400" y="1920240"/>
            <a:ext cx="1737360" cy="1005840"/>
          </a:xfrm>
          <a:prstGeom prst="rect">
            <a:avLst/>
          </a:prstGeom>
          <a:solidFill>
            <a:srgbClr val="10B981">
              <a:alpha val="20000"/>
            </a:srgbClr>
          </a:solidFill>
          <a:ln w="2540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486400" y="1920240"/>
            <a:ext cx="1737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50+ AI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Models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223760" y="2423160"/>
            <a:ext cx="1188720" cy="0"/>
          </a:xfrm>
          <a:prstGeom prst="line">
            <a:avLst/>
          </a:prstGeom>
          <a:noFill/>
          <a:ln w="25400">
            <a:solidFill>
              <a:srgbClr val="FF6B3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772400" y="22860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6B35"/>
                </a:solidFill>
              </a:rPr>
              <a:t>→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7589520" y="1920240"/>
            <a:ext cx="1737360" cy="1005840"/>
          </a:xfrm>
          <a:prstGeom prst="rect">
            <a:avLst/>
          </a:prstGeom>
          <a:solidFill>
            <a:srgbClr val="A855F7">
              <a:alpha val="20000"/>
            </a:srgbClr>
          </a:solidFill>
          <a:ln w="25400">
            <a:solidFill>
              <a:srgbClr val="A855F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7589520" y="1920240"/>
            <a:ext cx="1737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Result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Back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57200" y="32461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4C3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OpenAI-compatible endpoint — change just the model name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57200" y="363016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4C3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bKash · Nagad · USDT · Crypto payments in BDT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57200" y="4014216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4C3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Token-based credits, no expiry, no hidden fees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57200" y="4398264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4C3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Real-time usage monitoring and API key management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606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OPPORTUNITY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Massive &amp; Untapped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365760" y="1463040"/>
            <a:ext cx="2606040" cy="2194560"/>
          </a:xfrm>
          <a:prstGeom prst="rect">
            <a:avLst/>
          </a:prstGeom>
          <a:solidFill>
            <a:srgbClr val="16161E"/>
          </a:solidFill>
          <a:ln w="25400">
            <a:solidFill>
              <a:srgbClr val="3B82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65760" y="155448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B82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TAM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365760" y="196596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AI API Market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65760" y="2331720"/>
            <a:ext cx="2606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$184B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365760" y="310896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2030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46120" y="1463040"/>
            <a:ext cx="2606040" cy="2194560"/>
          </a:xfrm>
          <a:prstGeom prst="rect">
            <a:avLst/>
          </a:prstGeom>
          <a:solidFill>
            <a:srgbClr val="16161E"/>
          </a:solidFill>
          <a:ln w="25400">
            <a:solidFill>
              <a:srgbClr val="A855F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246120" y="155448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A855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SAM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3246120" y="196596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South Asia AI Market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246120" y="2331720"/>
            <a:ext cx="2606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$12B</a:t>
            </a:r>
            <a:endParaRPr lang="en-US" sz="3400" dirty="0"/>
          </a:p>
        </p:txBody>
      </p:sp>
      <p:sp>
        <p:nvSpPr>
          <p:cNvPr id="14" name="Text 12"/>
          <p:cNvSpPr/>
          <p:nvPr/>
        </p:nvSpPr>
        <p:spPr>
          <a:xfrm>
            <a:off x="3246120" y="310896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2028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126480" y="1463040"/>
            <a:ext cx="2606040" cy="2194560"/>
          </a:xfrm>
          <a:prstGeom prst="rect">
            <a:avLst/>
          </a:prstGeom>
          <a:solidFill>
            <a:srgbClr val="16161E"/>
          </a:solidFill>
          <a:ln w="25400">
            <a:solidFill>
              <a:srgbClr val="FF6B3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126480" y="155448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6B3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SOM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6126480" y="196596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Bangladesh Target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126480" y="2331720"/>
            <a:ext cx="2606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$180M</a:t>
            </a:r>
            <a:endParaRPr lang="en-US" sz="3400" dirty="0"/>
          </a:p>
        </p:txBody>
      </p:sp>
      <p:sp>
        <p:nvSpPr>
          <p:cNvPr id="19" name="Text 17"/>
          <p:cNvSpPr/>
          <p:nvPr/>
        </p:nvSpPr>
        <p:spPr>
          <a:xfrm>
            <a:off x="6126480" y="310896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3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57200" y="3886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4C3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180M+ population — 35M+ internet users — 2M+ tech professionals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57200" y="4224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4C3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Bangladesh developer community growing 40% YoY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57200" y="456285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4C3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Zero AI API aggregators exist in Bangladesh today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606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LINEUP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50+ Models. Launching with 10.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325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— Via Google Vertex AI (No approval wait)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65760" y="1691640"/>
            <a:ext cx="1600200" cy="914400"/>
          </a:xfrm>
          <a:prstGeom prst="rect">
            <a:avLst/>
          </a:prstGeom>
          <a:solidFill>
            <a:srgbClr val="16161E"/>
          </a:solidFill>
          <a:ln w="1270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65760" y="173736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Gemini 2.5 Pro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65760" y="2103120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65760" y="2350008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084832" y="1691640"/>
            <a:ext cx="1600200" cy="914400"/>
          </a:xfrm>
          <a:prstGeom prst="rect">
            <a:avLst/>
          </a:prstGeom>
          <a:solidFill>
            <a:srgbClr val="16161E"/>
          </a:solidFill>
          <a:ln w="1270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084832" y="173736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Gemini 2.5 Flash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084832" y="2103120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084832" y="2350008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803904" y="1691640"/>
            <a:ext cx="1600200" cy="914400"/>
          </a:xfrm>
          <a:prstGeom prst="rect">
            <a:avLst/>
          </a:prstGeom>
          <a:solidFill>
            <a:srgbClr val="16161E"/>
          </a:solidFill>
          <a:ln w="1270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803904" y="173736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Claude Haiku 4.5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803904" y="2103120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803904" y="2350008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522976" y="1691640"/>
            <a:ext cx="1600200" cy="914400"/>
          </a:xfrm>
          <a:prstGeom prst="rect">
            <a:avLst/>
          </a:prstGeom>
          <a:solidFill>
            <a:srgbClr val="16161E"/>
          </a:solidFill>
          <a:ln w="1270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5522976" y="173736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Mistral Large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522976" y="2103120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Mistral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5522976" y="2350008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7242048" y="1691640"/>
            <a:ext cx="1600200" cy="914400"/>
          </a:xfrm>
          <a:prstGeom prst="rect">
            <a:avLst/>
          </a:prstGeom>
          <a:solidFill>
            <a:srgbClr val="16161E"/>
          </a:solidFill>
          <a:ln w="1270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7242048" y="173736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Llama 3.3 70B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7242048" y="2103120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7242048" y="2350008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57200" y="2788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 — Direct API Keys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65760" y="3154680"/>
            <a:ext cx="1600200" cy="822960"/>
          </a:xfrm>
          <a:prstGeom prst="rect">
            <a:avLst/>
          </a:prstGeom>
          <a:solidFill>
            <a:srgbClr val="16161E"/>
          </a:solidFill>
          <a:ln w="12700">
            <a:solidFill>
              <a:srgbClr val="3B82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365760" y="320040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Claude Opus 4.6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65760" y="3566160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2084832" y="3154680"/>
            <a:ext cx="1600200" cy="822960"/>
          </a:xfrm>
          <a:prstGeom prst="rect">
            <a:avLst/>
          </a:prstGeom>
          <a:solidFill>
            <a:srgbClr val="16161E"/>
          </a:solidFill>
          <a:ln w="12700">
            <a:solidFill>
              <a:srgbClr val="3B82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2084832" y="320040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GPT-4o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2084832" y="3566160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3803904" y="3154680"/>
            <a:ext cx="1600200" cy="822960"/>
          </a:xfrm>
          <a:prstGeom prst="rect">
            <a:avLst/>
          </a:prstGeom>
          <a:solidFill>
            <a:srgbClr val="16161E"/>
          </a:solidFill>
          <a:ln w="12700">
            <a:solidFill>
              <a:srgbClr val="3B82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3803904" y="320040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Grok 4.20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3803904" y="3566160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xAI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5522976" y="3154680"/>
            <a:ext cx="1600200" cy="822960"/>
          </a:xfrm>
          <a:prstGeom prst="rect">
            <a:avLst/>
          </a:prstGeom>
          <a:solidFill>
            <a:srgbClr val="16161E"/>
          </a:solidFill>
          <a:ln w="12700">
            <a:solidFill>
              <a:srgbClr val="3B82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5522976" y="320040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DeepSeek V3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5522976" y="3566160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DeepSeek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7242048" y="3154680"/>
            <a:ext cx="1600200" cy="822960"/>
          </a:xfrm>
          <a:prstGeom prst="rect">
            <a:avLst/>
          </a:prstGeom>
          <a:solidFill>
            <a:srgbClr val="16161E"/>
          </a:solidFill>
          <a:ln w="12700">
            <a:solidFill>
              <a:srgbClr val="3B82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7242048" y="320040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Groq Llama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7242048" y="3566160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457200" y="4160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Future: 40+ more models including image, video, audio, code-specialized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606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TRIAL STRATEGY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Acquire Developers, Convert to Paid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325880"/>
            <a:ext cx="4114800" cy="2560320"/>
          </a:xfrm>
          <a:prstGeom prst="rect">
            <a:avLst/>
          </a:prstGeom>
          <a:solidFill>
            <a:srgbClr val="16161E"/>
          </a:solidFill>
          <a:ln w="2540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02920" y="146304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TIER INCLUDES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02920" y="187452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4C3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$2 free credits on signup (~200K tokens)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02920" y="2267712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4C3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Access to 5 models (Gemini Flash, Haiku,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4C3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Llama, Mistral, DeepSeek)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02920" y="2660904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4C3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100 API calls/day limit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02920" y="3054096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4C3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Full dashboard &amp; API key management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02920" y="3447288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4C3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No credit card required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754880" y="1325880"/>
            <a:ext cx="3931920" cy="1143000"/>
          </a:xfrm>
          <a:prstGeom prst="rect">
            <a:avLst/>
          </a:prstGeom>
          <a:solidFill>
            <a:srgbClr val="16161E"/>
          </a:solidFill>
          <a:ln w="12700">
            <a:solidFill>
              <a:srgbClr val="FF6B3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92040" y="14173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Per Free User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892040" y="173736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~$0.50 – $2.00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4892040" y="226771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developer acquired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754880" y="2606040"/>
            <a:ext cx="3931920" cy="1280160"/>
          </a:xfrm>
          <a:prstGeom prst="rect">
            <a:avLst/>
          </a:prstGeom>
          <a:solidFill>
            <a:srgbClr val="16161E"/>
          </a:solidFill>
          <a:ln w="12700">
            <a:solidFill>
              <a:srgbClr val="3B82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92040" y="26974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Conversion Target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892040" y="2999232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25–35%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4892040" y="35204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→ paid (industry avg: 15–20%)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57200" y="406908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Strategy: Hook with free credits → convert with credit expiry nudges + premium model access gates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606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 TIERS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Simple. Transparent. BDT-First.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74320" y="1325880"/>
            <a:ext cx="1993392" cy="3291840"/>
          </a:xfrm>
          <a:prstGeom prst="rect">
            <a:avLst/>
          </a:prstGeom>
          <a:solidFill>
            <a:srgbClr val="16161E"/>
          </a:solidFill>
          <a:ln w="12700">
            <a:solidFill>
              <a:srgbClr val="8B8AA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74320" y="1463040"/>
            <a:ext cx="1993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8B8A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Free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274320" y="1847088"/>
            <a:ext cx="19933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৳0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274320" y="2395728"/>
            <a:ext cx="19933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/month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65760" y="2743200"/>
            <a:ext cx="18105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4C3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5 models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65760" y="3081528"/>
            <a:ext cx="18105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4C3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100 calls/day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65760" y="3419856"/>
            <a:ext cx="18105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4C3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$2 free credit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65760" y="3758184"/>
            <a:ext cx="18105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4C3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Community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450592" y="1325880"/>
            <a:ext cx="1993392" cy="3291840"/>
          </a:xfrm>
          <a:prstGeom prst="rect">
            <a:avLst/>
          </a:prstGeom>
          <a:solidFill>
            <a:srgbClr val="16161E"/>
          </a:solidFill>
          <a:ln w="12700">
            <a:solidFill>
              <a:srgbClr val="3B82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2450592" y="1463040"/>
            <a:ext cx="1993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B82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Starter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2450592" y="1847088"/>
            <a:ext cx="19933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৳499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2450592" y="2395728"/>
            <a:ext cx="19933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/month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542032" y="2743200"/>
            <a:ext cx="18105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4C3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15 models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542032" y="3081528"/>
            <a:ext cx="18105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4C3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5,000 calls/day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542032" y="3419856"/>
            <a:ext cx="18105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4C3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$5 credits included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2542032" y="3758184"/>
            <a:ext cx="18105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4C3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Email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626864" y="1325880"/>
            <a:ext cx="1993392" cy="3291840"/>
          </a:xfrm>
          <a:prstGeom prst="rect">
            <a:avLst/>
          </a:prstGeom>
          <a:solidFill>
            <a:srgbClr val="16161E"/>
          </a:solidFill>
          <a:ln w="25400">
            <a:solidFill>
              <a:srgbClr val="FF6B3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626864" y="1325880"/>
            <a:ext cx="1993392" cy="32004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626864" y="1325880"/>
            <a:ext cx="19933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POPULAR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626864" y="1783080"/>
            <a:ext cx="1993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6B3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4626864" y="2167128"/>
            <a:ext cx="19933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৳1,299</a:t>
            </a:r>
            <a:endParaRPr lang="en-US" sz="2600" dirty="0"/>
          </a:p>
        </p:txBody>
      </p:sp>
      <p:sp>
        <p:nvSpPr>
          <p:cNvPr id="26" name="Text 24"/>
          <p:cNvSpPr/>
          <p:nvPr/>
        </p:nvSpPr>
        <p:spPr>
          <a:xfrm>
            <a:off x="4626864" y="2715768"/>
            <a:ext cx="19933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/month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718304" y="3063240"/>
            <a:ext cx="18105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4C3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30+ models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718304" y="3401568"/>
            <a:ext cx="18105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4C3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Unlimited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718304" y="3739896"/>
            <a:ext cx="18105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4C3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$15 credits included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718304" y="4078224"/>
            <a:ext cx="18105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4C3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Priority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803136" y="1325880"/>
            <a:ext cx="1993392" cy="3291840"/>
          </a:xfrm>
          <a:prstGeom prst="rect">
            <a:avLst/>
          </a:prstGeom>
          <a:solidFill>
            <a:srgbClr val="16161E"/>
          </a:solidFill>
          <a:ln w="12700">
            <a:solidFill>
              <a:srgbClr val="A855F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6803136" y="1463040"/>
            <a:ext cx="1993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A855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Team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6803136" y="1847088"/>
            <a:ext cx="19933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৳3,999</a:t>
            </a:r>
            <a:endParaRPr lang="en-US" sz="2600" dirty="0"/>
          </a:p>
        </p:txBody>
      </p:sp>
      <p:sp>
        <p:nvSpPr>
          <p:cNvPr id="34" name="Text 32"/>
          <p:cNvSpPr/>
          <p:nvPr/>
        </p:nvSpPr>
        <p:spPr>
          <a:xfrm>
            <a:off x="6803136" y="2395728"/>
            <a:ext cx="19933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/month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894576" y="2743200"/>
            <a:ext cx="18105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4C3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50+ models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6894576" y="3081528"/>
            <a:ext cx="18105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4C3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Unlimited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6894576" y="3419856"/>
            <a:ext cx="18105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4C3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$50 credits included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6894576" y="3758184"/>
            <a:ext cx="18105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4C3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Dedicated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606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PROJECTIONS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Conservative 3-Year Forecast</a:t>
            </a:r>
            <a:endParaRPr lang="en-US" sz="28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365760" y="1280160"/>
          <a:ext cx="8412480" cy="2926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43434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৳3.2 Crore ARR by end of 2028  |  Break-even: Q3 2026  |  Margin at scale: 55–65%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606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ECONOMICS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Strong Margins from Day One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2801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MODEL MARGIN (API cost vs ReadyPI price)</a:t>
            </a:r>
            <a:endParaRPr lang="en-US" sz="10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600200"/>
          <a:ext cx="8412480" cy="2011680"/>
        </p:xfrm>
        <a:graphic>
          <a:graphicData uri="http://schemas.openxmlformats.org/drawingml/2006/table">
            <a:tbl>
              <a:tblPr/>
              <a:tblGrid>
                <a:gridCol w="1682496"/>
                <a:gridCol w="1682496"/>
                <a:gridCol w="1682496"/>
                <a:gridCol w="1682496"/>
                <a:gridCol w="1682496"/>
              </a:tblGrid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82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Our API Cost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82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ReadyPI Price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82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Margin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82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Margin 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82F6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C4C3D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Gemini 2.5 Flash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C4C3D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$0.10/1M tok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C4C3D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$0.25/1M tok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C4C3D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$0.15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E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C4C3D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Claude Haiku 4.5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C4C3D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$0.80/1M tok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C4C3D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$1.50/1M tok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C4C3D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$0.70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87%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4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C4C3D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GPT-4o Mini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C4C3D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$0.15/1M tok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C4C3D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$0.30/1M tok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C4C3D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$0.15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E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C4C3D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DeepSeek V3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C4C3D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$0.27/1M tok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C4C3D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$0.50/1M tok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C4C3D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$0.23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85%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4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C4C3D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Claude Opus 4.6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C4C3D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$15/1M tok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C4C3D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$25/1M tok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C4C3D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67%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E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365760" y="3840480"/>
            <a:ext cx="1993392" cy="914400"/>
          </a:xfrm>
          <a:prstGeom prst="rect">
            <a:avLst/>
          </a:prstGeom>
          <a:solidFill>
            <a:srgbClr val="16161E"/>
          </a:solidFill>
          <a:ln w="1270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365760" y="3913632"/>
            <a:ext cx="19933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Gross Margin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365760" y="4187952"/>
            <a:ext cx="19933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0B9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55–70%</a:t>
            </a:r>
            <a:endParaRPr lang="en-US" sz="2200" dirty="0"/>
          </a:p>
        </p:txBody>
      </p:sp>
      <p:sp>
        <p:nvSpPr>
          <p:cNvPr id="10" name="Shape 7"/>
          <p:cNvSpPr/>
          <p:nvPr/>
        </p:nvSpPr>
        <p:spPr>
          <a:xfrm>
            <a:off x="2542032" y="3840480"/>
            <a:ext cx="1993392" cy="914400"/>
          </a:xfrm>
          <a:prstGeom prst="rect">
            <a:avLst/>
          </a:prstGeom>
          <a:solidFill>
            <a:srgbClr val="16161E"/>
          </a:solidFill>
          <a:ln w="12700">
            <a:solidFill>
              <a:srgbClr val="3B82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2542032" y="3913632"/>
            <a:ext cx="19933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 (free user)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2542032" y="4187952"/>
            <a:ext cx="19933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B82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~$1.00</a:t>
            </a:r>
            <a:endParaRPr lang="en-US" sz="2200" dirty="0"/>
          </a:p>
        </p:txBody>
      </p:sp>
      <p:sp>
        <p:nvSpPr>
          <p:cNvPr id="13" name="Shape 10"/>
          <p:cNvSpPr/>
          <p:nvPr/>
        </p:nvSpPr>
        <p:spPr>
          <a:xfrm>
            <a:off x="4718304" y="3840480"/>
            <a:ext cx="1993392" cy="914400"/>
          </a:xfrm>
          <a:prstGeom prst="rect">
            <a:avLst/>
          </a:prstGeom>
          <a:solidFill>
            <a:srgbClr val="16161E"/>
          </a:solidFill>
          <a:ln w="12700">
            <a:solidFill>
              <a:srgbClr val="FF6B3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4718304" y="3913632"/>
            <a:ext cx="19933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LTV (paid user)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4718304" y="4187952"/>
            <a:ext cx="19933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6B3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~$85</a:t>
            </a:r>
            <a:endParaRPr lang="en-US" sz="2200" dirty="0"/>
          </a:p>
        </p:txBody>
      </p:sp>
      <p:sp>
        <p:nvSpPr>
          <p:cNvPr id="16" name="Shape 13"/>
          <p:cNvSpPr/>
          <p:nvPr/>
        </p:nvSpPr>
        <p:spPr>
          <a:xfrm>
            <a:off x="6894576" y="3840480"/>
            <a:ext cx="1993392" cy="914400"/>
          </a:xfrm>
          <a:prstGeom prst="rect">
            <a:avLst/>
          </a:prstGeom>
          <a:solidFill>
            <a:srgbClr val="16161E"/>
          </a:solidFill>
          <a:ln w="12700">
            <a:solidFill>
              <a:srgbClr val="A855F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6894576" y="3913632"/>
            <a:ext cx="19933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LTV:CAC Ratio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6894576" y="4187952"/>
            <a:ext cx="19933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A855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85:1</a:t>
            </a:r>
            <a:endParaRPr lang="en-US" sz="2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606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STARTUP COSTS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Lean Launch. Capital Efficient.</a:t>
            </a:r>
            <a:endParaRPr lang="en-US" sz="28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325880"/>
          <a:ext cx="8412480" cy="3246120"/>
        </p:xfrm>
        <a:graphic>
          <a:graphicData uri="http://schemas.openxmlformats.org/drawingml/2006/table">
            <a:tbl>
              <a:tblPr/>
              <a:tblGrid>
                <a:gridCol w="1828800"/>
                <a:gridCol w="3474720"/>
                <a:gridCol w="1554480"/>
                <a:gridCol w="1554480"/>
              </a:tblGrid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B35">
                        <a:alpha val="7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Details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B35">
                        <a:alpha val="7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Monthly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B35">
                        <a:alpha val="7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One-time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B35">
                        <a:alpha val="70000"/>
                      </a:srgbClr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Tech Infrastructure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8B8A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GCP Vertex AI credits, Cloud Run, Firebase, Domain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6B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৳8,000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4C3D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৳5,000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E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API Deposits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8B8A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Anthropic $50, OpenAI $50, DeepSeek $10, Groq free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6B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৳5,000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4C3D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৳11,000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4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Payment Gateway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8B8A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SSLCommerz setup fee + monthly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6B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৳2,000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4C3D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৳3,000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E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Development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8B8A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Solo founder + 1 contract dev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6B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৳30,000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4C3D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৳0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4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Marketing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8B8A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Developer community, social, content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6B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৳10,000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4C3D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৳5,000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E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Legal &amp; Misc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8B8A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Business registration, accounting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6B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৳2,000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4C3D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৳15,000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4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6B35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TOTAL</a:t>
                      </a:r>
                      <a:endParaRPr lang="en-US" sz="11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0B981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৳57,000/mo</a:t>
                      </a:r>
                      <a:endParaRPr lang="en-US" sz="11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0B981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৳39,000</a:t>
                      </a:r>
                      <a:endParaRPr lang="en-US" sz="11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2A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470916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6-month runway needed: ~৳3.8 Lakh (~$3,500 USD) to reach break-even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606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A855F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FUNDRAISING ASK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Seed Round — $25,000 USD</a:t>
            </a:r>
            <a:endParaRPr lang="en-US" sz="32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274320" y="1371600"/>
          <a:ext cx="411480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4663440" y="137160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MILESTONES THIS ROUND ENABLES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4663440" y="1783080"/>
            <a:ext cx="4023360" cy="621792"/>
          </a:xfrm>
          <a:prstGeom prst="rect">
            <a:avLst/>
          </a:prstGeom>
          <a:solidFill>
            <a:srgbClr val="16161E"/>
          </a:solidFill>
          <a:ln w="12700">
            <a:solidFill>
              <a:srgbClr val="A855F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4754880" y="182880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855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Month 1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4754880" y="210312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4C3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with 10 models, 500 beta users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4663440" y="2532888"/>
            <a:ext cx="4023360" cy="621792"/>
          </a:xfrm>
          <a:prstGeom prst="rect">
            <a:avLst/>
          </a:prstGeom>
          <a:solidFill>
            <a:srgbClr val="16161E"/>
          </a:solidFill>
          <a:ln w="12700">
            <a:solidFill>
              <a:srgbClr val="A855F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4754880" y="2578608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855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Month 3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4754880" y="285292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4C3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1,000 paying users, ৳5L MRR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4663440" y="3282696"/>
            <a:ext cx="4023360" cy="621792"/>
          </a:xfrm>
          <a:prstGeom prst="rect">
            <a:avLst/>
          </a:prstGeom>
          <a:solidFill>
            <a:srgbClr val="16161E"/>
          </a:solidFill>
          <a:ln w="12700">
            <a:solidFill>
              <a:srgbClr val="A855F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4754880" y="3328416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855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Month 6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4754880" y="3602736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4C3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5,000 users, break-even reached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4663440" y="4032504"/>
            <a:ext cx="4023360" cy="621792"/>
          </a:xfrm>
          <a:prstGeom prst="rect">
            <a:avLst/>
          </a:prstGeom>
          <a:solidFill>
            <a:srgbClr val="16161E"/>
          </a:solidFill>
          <a:ln w="12700">
            <a:solidFill>
              <a:srgbClr val="A855F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4754880" y="4078224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855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Month 12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4754880" y="4352544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4C3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25,000 users, Series A ready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4663440" y="4663440"/>
            <a:ext cx="4023360" cy="320040"/>
          </a:xfrm>
          <a:prstGeom prst="rect">
            <a:avLst/>
          </a:prstGeom>
          <a:solidFill>
            <a:srgbClr val="A855F7">
              <a:alpha val="20000"/>
            </a:srgbClr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663440" y="466344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Pre-money valuation: $150,000  |  Equity offered: 15%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606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NOW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Perfect Storm of Opportunity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371600"/>
            <a:ext cx="2697480" cy="1280160"/>
          </a:xfrm>
          <a:prstGeom prst="rect">
            <a:avLst/>
          </a:prstGeom>
          <a:solidFill>
            <a:srgbClr val="16161E"/>
          </a:solidFill>
          <a:ln w="12700">
            <a:solidFill>
              <a:srgbClr val="2A2A3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146304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🚀  AI Adoption Explosion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1847088"/>
            <a:ext cx="2514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BD developer community adopting AI tools 40% faster YoY. No local solution exists.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246120" y="1371600"/>
            <a:ext cx="2697480" cy="1280160"/>
          </a:xfrm>
          <a:prstGeom prst="rect">
            <a:avLst/>
          </a:prstGeom>
          <a:solidFill>
            <a:srgbClr val="16161E"/>
          </a:solidFill>
          <a:ln w="12700">
            <a:solidFill>
              <a:srgbClr val="2A2A3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337560" y="146304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💳  Payment Gap = Moat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337560" y="1847088"/>
            <a:ext cx="2514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bKash/Nagad integration is our strongest competitive advantage. No one has done this for AI APIs.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126480" y="1371600"/>
            <a:ext cx="2697480" cy="1280160"/>
          </a:xfrm>
          <a:prstGeom prst="rect">
            <a:avLst/>
          </a:prstGeom>
          <a:solidFill>
            <a:srgbClr val="16161E"/>
          </a:solidFill>
          <a:ln w="12700">
            <a:solidFill>
              <a:srgbClr val="2A2A3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217920" y="146304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🌐  Vertex AI Unlocked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217920" y="1847088"/>
            <a:ext cx="2514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Vertex gives us 50+ models via one GCP account. Zero upfront model costs.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65760" y="2834640"/>
            <a:ext cx="2697480" cy="1280160"/>
          </a:xfrm>
          <a:prstGeom prst="rect">
            <a:avLst/>
          </a:prstGeom>
          <a:solidFill>
            <a:srgbClr val="16161E"/>
          </a:solidFill>
          <a:ln w="12700">
            <a:solidFill>
              <a:srgbClr val="2A2A3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57200" y="292608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📈  OpenRouter Proof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" y="3310128"/>
            <a:ext cx="2514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OpenRouter does $20M+ revenue with same model. We own Bangladesh + South Asia first.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246120" y="2834640"/>
            <a:ext cx="2697480" cy="1280160"/>
          </a:xfrm>
          <a:prstGeom prst="rect">
            <a:avLst/>
          </a:prstGeom>
          <a:solidFill>
            <a:srgbClr val="16161E"/>
          </a:solidFill>
          <a:ln w="12700">
            <a:solidFill>
              <a:srgbClr val="2A2A3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3337560" y="292608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🏗️  Product Ready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337560" y="3310128"/>
            <a:ext cx="2514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stack built: Next.js frontend, Node.js API gateway, Firebase + PostgreSQL, payment integration.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126480" y="2834640"/>
            <a:ext cx="2697480" cy="1280160"/>
          </a:xfrm>
          <a:prstGeom prst="rect">
            <a:avLst/>
          </a:prstGeom>
          <a:solidFill>
            <a:srgbClr val="16161E"/>
          </a:solidFill>
          <a:ln w="12700">
            <a:solidFill>
              <a:srgbClr val="2A2A3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217920" y="292608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⏱️  First Mover Window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217920" y="3310128"/>
            <a:ext cx="2514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12–18 month window before global players enter Bangladesh market. Now or never.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606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3" name="Shape 1"/>
          <p:cNvSpPr/>
          <p:nvPr/>
        </p:nvSpPr>
        <p:spPr>
          <a:xfrm>
            <a:off x="274320" y="45720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05840" y="45720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37360" y="45720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468880" y="45720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0" y="45720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931920" y="45720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663440" y="45720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394960" y="45720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126480" y="45720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858000" y="45720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589520" y="45720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321040" y="45720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74320" y="105156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05840" y="105156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737360" y="105156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468880" y="105156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200400" y="105156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931920" y="105156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663440" y="105156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394960" y="105156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126480" y="105156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858000" y="105156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589520" y="105156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321040" y="105156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74320" y="164592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005840" y="164592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737360" y="164592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468880" y="164592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200400" y="164592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931920" y="164592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663440" y="164592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394960" y="164592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126480" y="164592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858000" y="164592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589520" y="164592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8321040" y="164592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274320" y="224028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005840" y="224028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737360" y="224028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2468880" y="224028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3200400" y="224028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3931920" y="224028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4663440" y="224028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5394960" y="224028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6126480" y="224028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6858000" y="224028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7589520" y="224028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8321040" y="224028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274320" y="283464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1005840" y="283464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1737360" y="283464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2468880" y="283464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3200400" y="283464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3931920" y="283464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4663440" y="283464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5394960" y="283464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6126480" y="283464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6858000" y="283464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7589520" y="283464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8321040" y="283464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274320" y="342900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1005840" y="342900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1737360" y="342900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2468880" y="342900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3200400" y="342900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3931920" y="342900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4663440" y="342900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5394960" y="342900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6126480" y="342900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6858000" y="342900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7589520" y="342900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8321040" y="342900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274320" y="402336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1005840" y="402336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1737360" y="402336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2468880" y="402336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3200400" y="402336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3931920" y="402336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4663440" y="402336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5394960" y="402336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6126480" y="402336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6858000" y="402336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7589520" y="402336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8321040" y="402336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274320" y="461772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1005840" y="461772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1737360" y="461772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2468880" y="461772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3200400" y="461772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3931920" y="461772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4663440" y="461772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5394960" y="461772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6126480" y="461772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6858000" y="461772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7589520" y="461772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8321040" y="461772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914400" y="73152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Ready</a:t>
            </a:r>
            <a:pPr algn="ctr" indent="0" marL="0">
              <a:buNone/>
            </a:pPr>
            <a:r>
              <a:rPr lang="en-US" sz="5600" b="1" dirty="0">
                <a:solidFill>
                  <a:srgbClr val="FF6B3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PI</a:t>
            </a:r>
            <a:endParaRPr lang="en-US" sz="5600" dirty="0"/>
          </a:p>
        </p:txBody>
      </p:sp>
      <p:sp>
        <p:nvSpPr>
          <p:cNvPr id="100" name="Text 98"/>
          <p:cNvSpPr/>
          <p:nvPr/>
        </p:nvSpPr>
        <p:spPr>
          <a:xfrm>
            <a:off x="914400" y="1645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spc="200" kern="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Bangladesh's First AI API Marketplace</a:t>
            </a:r>
            <a:endParaRPr lang="en-US" sz="1600" dirty="0"/>
          </a:p>
        </p:txBody>
      </p:sp>
      <p:sp>
        <p:nvSpPr>
          <p:cNvPr id="101" name="Text 99"/>
          <p:cNvSpPr/>
          <p:nvPr/>
        </p:nvSpPr>
        <p:spPr>
          <a:xfrm>
            <a:off x="914400" y="21945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$25,000 Seed Round  ·  $150K Pre-money Valuation  ·  15% Equity</a:t>
            </a:r>
            <a:endParaRPr lang="en-US" sz="1400" dirty="0"/>
          </a:p>
        </p:txBody>
      </p:sp>
      <p:sp>
        <p:nvSpPr>
          <p:cNvPr id="102" name="Shape 100"/>
          <p:cNvSpPr/>
          <p:nvPr/>
        </p:nvSpPr>
        <p:spPr>
          <a:xfrm>
            <a:off x="2286000" y="2834640"/>
            <a:ext cx="4572000" cy="640080"/>
          </a:xfrm>
          <a:prstGeom prst="rect">
            <a:avLst/>
          </a:prstGeom>
          <a:solidFill>
            <a:srgbClr val="FF6B35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03" name="Text 101"/>
          <p:cNvSpPr/>
          <p:nvPr/>
        </p:nvSpPr>
        <p:spPr>
          <a:xfrm>
            <a:off x="2286000" y="283464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Let's Build the AI Infrastructure of Bangladesh</a:t>
            </a:r>
            <a:endParaRPr lang="en-US" sz="1300" dirty="0"/>
          </a:p>
        </p:txBody>
      </p:sp>
      <p:sp>
        <p:nvSpPr>
          <p:cNvPr id="104" name="Text 102"/>
          <p:cNvSpPr/>
          <p:nvPr/>
        </p:nvSpPr>
        <p:spPr>
          <a:xfrm>
            <a:off x="914400" y="374904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readypi.com  ·  admin@readypi.com</a:t>
            </a:r>
            <a:endParaRPr lang="en-US" sz="1200" dirty="0"/>
          </a:p>
        </p:txBody>
      </p:sp>
      <p:sp>
        <p:nvSpPr>
          <p:cNvPr id="105" name="Text 103"/>
          <p:cNvSpPr/>
          <p:nvPr/>
        </p:nvSpPr>
        <p:spPr>
          <a:xfrm>
            <a:off x="914400" y="409651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Ahmed Riyaz — Founder &amp; CEO</a:t>
            </a:r>
            <a:endParaRPr lang="en-US" sz="1200" dirty="0"/>
          </a:p>
        </p:txBody>
      </p:sp>
      <p:sp>
        <p:nvSpPr>
          <p:cNvPr id="106" name="Shape 104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FF6B35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ReadyPI — Investor Pitch Deck</dc:title>
  <dc:subject>PptxGenJS Presentation</dc:subject>
  <dc:creator>ReadyPI Team</dc:creator>
  <cp:lastModifiedBy>ReadyPI Team</cp:lastModifiedBy>
  <cp:revision>1</cp:revision>
  <dcterms:created xsi:type="dcterms:W3CDTF">2026-04-26T18:47:22Z</dcterms:created>
  <dcterms:modified xsi:type="dcterms:W3CDTF">2026-04-26T18:47:22Z</dcterms:modified>
</cp:coreProperties>
</file>